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62" r:id="rId6"/>
    <p:sldId id="259" r:id="rId7"/>
    <p:sldId id="260" r:id="rId8"/>
    <p:sldId id="263" r:id="rId9"/>
    <p:sldId id="261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96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8" name="Rectangle 7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Oval 10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Oval 11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5400000">
            <a:off x="10089390" y="1792223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/>
                </a:solidFill>
              </a:defRPr>
            </a:lvl1pPr>
          </a:lstStyle>
          <a:p>
            <a:fld id="{1E700B27-DE4C-4B9E-BB11-B9027034A00F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5400000">
            <a:off x="8959592" y="3226820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1008" y="292608"/>
            <a:ext cx="838199" cy="767687"/>
          </a:xfrm>
        </p:spPr>
        <p:txBody>
          <a:bodyPr/>
          <a:lstStyle>
            <a:lvl1pPr>
              <a:defRPr sz="2800" b="0" i="0">
                <a:latin typeface="+mj-lt"/>
              </a:defRPr>
            </a:lvl1pPr>
          </a:lstStyle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51FCE-E4BB-4680-8E50-3C0E348D2609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677645"/>
            <a:ext cx="4351023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8" y="2677644"/>
            <a:ext cx="3755379" cy="2283823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A073D-A903-47F8-8D16-77642FB0DF1F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5" name="Rectangle 14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1FA40-626B-4CA1-85D0-7A9016E395BA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0" y="3179762"/>
            <a:ext cx="4825159" cy="2840039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25EA-B9DC-48A7-991E-9A82573B1B21}" type="datetimeFigureOut">
              <a:rPr lang="en-US" dirty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B97F8-6CEB-469B-AFCC-889F2A2B1D5A}" type="datetimeFigureOut">
              <a:rPr lang="en-US" dirty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9179F-009E-4FA5-B091-7EBB82A185BD}" type="datetimeFigureOut">
              <a:rPr lang="en-US" dirty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 showMasterSp="0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8" name="Rectangle 7"/>
            <p:cNvSpPr/>
            <p:nvPr/>
          </p:nvSpPr>
          <p:spPr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9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295400"/>
            <a:ext cx="2793159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5" cy="4572000"/>
          </a:xfrm>
        </p:spPr>
        <p:txBody>
          <a:bodyPr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5" y="2895600"/>
            <a:ext cx="2793158" cy="312927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665CEB-0076-4E37-B880-BCEA9784DE0A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5" name="Rectangle 14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 showMasterSp="0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8" name="Rectangle 7"/>
            <p:cNvSpPr/>
            <p:nvPr/>
          </p:nvSpPr>
          <p:spPr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693332"/>
            <a:ext cx="3860260" cy="173566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5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149E5E-3896-4118-99A7-7B85668F1C5E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8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9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966674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6" y="553666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0F4739-9812-4A9F-890D-2AD6BA5F6EE8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0" name="Rectangle 9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1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063416"/>
            <a:ext cx="8825659" cy="1379755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45AC5-A3F8-44AA-BA8F-596CDCC976D3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5" name="Rectangle 1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24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6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3" name="TextBox 12"/>
          <p:cNvSpPr txBox="1"/>
          <p:nvPr/>
        </p:nvSpPr>
        <p:spPr>
          <a:xfrm>
            <a:off x="9719438" y="2631815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 panose="020B0604020202020204"/>
                <a:cs typeface="Arial" panose="020B0604020202020204"/>
              </a:defRPr>
            </a:lvl1pPr>
          </a:lstStyle>
          <a:p>
            <a:pPr lvl="0"/>
            <a:r>
              <a:rPr lang="en-US" sz="9600" dirty="0"/>
              <a:t>”</a:t>
            </a:r>
            <a:endParaRPr lang="en-US" sz="9600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591093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 panose="020B0604020202020204"/>
                <a:cs typeface="Arial" panose="020B0604020202020204"/>
              </a:defRPr>
            </a:lvl1pPr>
          </a:lstStyle>
          <a:p>
            <a:pPr lvl="0"/>
            <a:r>
              <a:rPr lang="en-US" sz="9600" dirty="0"/>
              <a:t>“</a:t>
            </a:r>
            <a:endParaRPr lang="en-US" sz="96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0517"/>
            <a:ext cx="8453906" cy="2698249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25772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3B183-A821-4095-A363-9EC968635539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32" name="Rectangle 31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0" name="Rectangle 9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1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33068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01B4-0AA5-45E6-B2E6-5FA4078AEBCF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17299"/>
            <a:ext cx="312916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4" y="3193561"/>
            <a:ext cx="3129168" cy="283349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2"/>
            <a:ext cx="314538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93561"/>
            <a:ext cx="3145380" cy="283349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6700" y="2617299"/>
            <a:ext cx="3161029" cy="576261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6700" y="3193561"/>
            <a:ext cx="3164719" cy="28334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cxnSp>
        <p:nvCxnSpPr>
          <p:cNvPr id="22" name="Straight Connector 21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1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1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47335C-0450-40D7-8612-B3203BED4F28}" type="datetimeFigureOut">
              <a:rPr lang="en-US" dirty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2" y="4532845"/>
            <a:ext cx="30504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2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3" y="5109107"/>
            <a:ext cx="3050437" cy="91794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537" y="4532846"/>
            <a:ext cx="3046766" cy="651156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3" y="2603500"/>
            <a:ext cx="2691241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8865" y="5184002"/>
            <a:ext cx="3050438" cy="84305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3434" y="4532847"/>
            <a:ext cx="3050438" cy="65115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3434" y="5184001"/>
            <a:ext cx="3050437" cy="843054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4388153" y="2603500"/>
            <a:ext cx="0" cy="351759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801905" y="2603500"/>
            <a:ext cx="0" cy="34925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6A105-2A1C-4284-B4EA-07CF89B1A393}" type="datetimeFigureOut">
              <a:rPr lang="en-US" dirty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973668"/>
            <a:ext cx="8825660" cy="706964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BE609-F3F2-45E6-BD6A-E03A8C86C1AE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 showMasterSp="0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Rectangle 7"/>
            <p:cNvSpPr/>
            <p:nvPr/>
          </p:nvSpPr>
          <p:spPr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76756" y="1278468"/>
            <a:ext cx="1413933" cy="4748589"/>
          </a:xfrm>
        </p:spPr>
        <p:txBody>
          <a:bodyPr vert="eaVert" anchor="b" anchorCtr="0"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8"/>
            <a:ext cx="6247546" cy="4748590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4AD68-089C-4467-A8F3-EA2BBCA6B44E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9" Type="http://schemas.openxmlformats.org/officeDocument/2006/relationships/theme" Target="../theme/theme1.xml"/><Relationship Id="rId18" Type="http://schemas.openxmlformats.org/officeDocument/2006/relationships/image" Target="../media/image1.jpeg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26" name="Rectangle 25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8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20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1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3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2603500"/>
            <a:ext cx="8761412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0938" y="639406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7E0D914D-B099-4142-A885-11F276715148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8358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 b="1" i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22" name="Rectangle 21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  <a:latin typeface="+mn-lt"/>
              </a:defRPr>
            </a:lvl1pPr>
          </a:lstStyle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83171" y="1143000"/>
            <a:ext cx="8825658" cy="3389217"/>
          </a:xfrm>
        </p:spPr>
        <p:txBody>
          <a:bodyPr anchor="ctr">
            <a:normAutofit/>
          </a:bodyPr>
          <a:lstStyle/>
          <a:p>
            <a:pPr algn="ctr"/>
            <a:r>
              <a:rPr lang="en-US" sz="6600">
                <a:solidFill>
                  <a:srgbClr val="FFFFFF"/>
                </a:solidFill>
              </a:rPr>
              <a:t>Turismo VIA</a:t>
            </a:r>
            <a:endParaRPr lang="es-ES" sz="6600">
              <a:solidFill>
                <a:srgbClr val="FFFFFF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83385" y="4404360"/>
            <a:ext cx="8825865" cy="1664970"/>
          </a:xfrm>
        </p:spPr>
        <p:txBody>
          <a:bodyPr>
            <a:normAutofit fontScale="90000"/>
          </a:bodyPr>
          <a:lstStyle/>
          <a:p>
            <a:pPr algn="ctr"/>
            <a:r>
              <a:rPr lang="es-MX" altLang="en-US" sz="2400">
                <a:solidFill>
                  <a:schemeClr val="bg1"/>
                </a:solidFill>
              </a:rPr>
              <a:t>Por Jahaziel Aarón aguilera castillo</a:t>
            </a:r>
            <a:endParaRPr lang="es-MX" altLang="en-US" sz="2400">
              <a:solidFill>
                <a:schemeClr val="bg1"/>
              </a:solidFill>
            </a:endParaRPr>
          </a:p>
          <a:p>
            <a:pPr algn="ctr"/>
            <a:r>
              <a:rPr lang="es-MX" altLang="en-US" sz="2400">
                <a:solidFill>
                  <a:schemeClr val="bg1"/>
                </a:solidFill>
              </a:rPr>
              <a:t>Departamento de tecnologías de la información (DTI)</a:t>
            </a:r>
            <a:endParaRPr lang="es-MX" altLang="en-US" sz="2400">
              <a:solidFill>
                <a:schemeClr val="bg1"/>
              </a:solidFill>
            </a:endParaRPr>
          </a:p>
          <a:p>
            <a:pPr algn="ctr"/>
            <a:r>
              <a:rPr lang="es-MX" altLang="en-US" sz="2400">
                <a:solidFill>
                  <a:schemeClr val="bg1"/>
                </a:solidFill>
              </a:rPr>
              <a:t>2020</a:t>
            </a:r>
            <a:endParaRPr lang="es-MX" altLang="en-US" sz="240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1154954" y="2603500"/>
            <a:ext cx="4946387" cy="34163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MX" altLang="es-ES" dirty="0"/>
              <a:t>Ante las nuevas ofertas de viaje, p</a:t>
            </a:r>
            <a:r>
              <a:rPr lang="es-ES" dirty="0"/>
              <a:t>roponemos un nuevo proyecto, para la creación de un sistema con el propósito de ofrecer los viajes en la modalidad chárter.</a:t>
            </a:r>
            <a:endParaRPr lang="es-ES" dirty="0"/>
          </a:p>
          <a:p>
            <a:endParaRPr lang="es-E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Logotipo, nombre de la empresa&#10;&#10;Descripción generada automáticament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35"/>
            <a:ext cx="12192000" cy="6857365"/>
          </a:xfrm>
          <a:prstGeom prst="rect">
            <a:avLst/>
          </a:prstGeom>
        </p:spPr>
      </p:pic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>
                <a:solidFill>
                  <a:schemeClr val="tx1"/>
                </a:solidFill>
              </a:rPr>
              <a:t>VIA</a:t>
            </a:r>
            <a:endParaRPr lang="es-ES" dirty="0">
              <a:solidFill>
                <a:schemeClr val="tx1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1459755" y="2065020"/>
            <a:ext cx="8761412" cy="34163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 dirty="0"/>
              <a:t>El nombre propuesto es "VIA" elegido por</a:t>
            </a:r>
            <a:endParaRPr lang="es-ES" dirty="0"/>
          </a:p>
          <a:p>
            <a:pPr lvl="1"/>
            <a:r>
              <a:rPr lang="es-ES" dirty="0"/>
              <a:t>Su significado, nosotros somos el camino o la manera para viajar.</a:t>
            </a:r>
            <a:endParaRPr lang="es-ES" dirty="0"/>
          </a:p>
          <a:p>
            <a:pPr lvl="1"/>
            <a:r>
              <a:rPr lang="es-ES" dirty="0"/>
              <a:t>Es un palabra corta y fácil de recordar</a:t>
            </a:r>
            <a:endParaRPr lang="es-ES" dirty="0"/>
          </a:p>
          <a:p>
            <a:pPr lvl="1"/>
            <a:r>
              <a:rPr lang="es-ES" dirty="0"/>
              <a:t>Se presta para simplificar el logotipo y darle distintas formas.</a:t>
            </a:r>
            <a:endParaRPr lang="es-ES" dirty="0"/>
          </a:p>
          <a:p>
            <a:r>
              <a:rPr lang="es-ES" dirty="0"/>
              <a:t>Sitio web via-jes.com</a:t>
            </a:r>
            <a:endParaRPr lang="es-E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Logotipo y colores</a:t>
            </a:r>
            <a:endParaRPr lang="es-ES"/>
          </a:p>
        </p:txBody>
      </p:sp>
      <p:pic>
        <p:nvPicPr>
          <p:cNvPr id="4" name="Imagen 4" descr="Imagen que contiene Logotipo&#10;&#10;Descripción generada automáticamente"/>
          <p:cNvPicPr>
            <a:picLocks noGrp="1"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151521" y="3092331"/>
            <a:ext cx="5260206" cy="2612703"/>
          </a:xfrm>
        </p:spPr>
      </p:pic>
      <p:pic>
        <p:nvPicPr>
          <p:cNvPr id="5" name="Imagen 5" descr="Logotipo, Icono&#10;&#10;Descripción generada automáticamen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1408" y="2762700"/>
            <a:ext cx="1792317" cy="341731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Operación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41638" y="2464110"/>
            <a:ext cx="7042267" cy="3741543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r>
              <a:rPr lang="es-ES" dirty="0"/>
              <a:t>Los viajes son programados por personal de turismo para ser ofrecidos al público general, a través de:</a:t>
            </a:r>
            <a:endParaRPr lang="es-ES" dirty="0"/>
          </a:p>
          <a:p>
            <a:pPr lvl="1"/>
            <a:r>
              <a:rPr lang="es-ES" dirty="0"/>
              <a:t> Las agencias de viaje asociadas</a:t>
            </a:r>
            <a:endParaRPr lang="es-ES" dirty="0"/>
          </a:p>
          <a:p>
            <a:pPr lvl="1"/>
            <a:r>
              <a:rPr lang="es-ES" dirty="0"/>
              <a:t>Taquillas de </a:t>
            </a:r>
            <a:r>
              <a:rPr lang="es-ES" dirty="0" err="1"/>
              <a:t>Parhíkuni</a:t>
            </a:r>
            <a:endParaRPr lang="es-ES" dirty="0"/>
          </a:p>
          <a:p>
            <a:pPr lvl="1"/>
            <a:r>
              <a:rPr lang="es-ES" dirty="0"/>
              <a:t>Oficina de turismo</a:t>
            </a:r>
            <a:endParaRPr lang="es-ES" dirty="0"/>
          </a:p>
          <a:p>
            <a:pPr lvl="1"/>
            <a:r>
              <a:rPr lang="es-ES" dirty="0"/>
              <a:t>por el mismo sistema, en su sitio web.</a:t>
            </a:r>
            <a:endParaRPr lang="es-ES" dirty="0"/>
          </a:p>
          <a:p>
            <a:r>
              <a:rPr lang="es-ES" dirty="0"/>
              <a:t>Las salidas podrán ser programadas de manera permanente o por un tiempo determinado para salir a los destinos turísticos más visitados.</a:t>
            </a:r>
            <a:endParaRPr lang="es-ES" dirty="0"/>
          </a:p>
          <a:p>
            <a:r>
              <a:rPr lang="es-ES" dirty="0"/>
              <a:t>Los viajes serán programados para un autobús o camioneta, de igual manera podrá cambiarse dependiendo el número de pasajeros.</a:t>
            </a:r>
            <a:br>
              <a:rPr lang="es-ES" dirty="0"/>
            </a:br>
            <a:endParaRPr lang="es-ES" dirty="0"/>
          </a:p>
        </p:txBody>
      </p:sp>
      <p:pic>
        <p:nvPicPr>
          <p:cNvPr id="4" name="Imagen 3" descr="Imagen que contiene Escala de tiempo&#10;&#10;Descripción generada automáticament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309" y="1740186"/>
            <a:ext cx="4739438" cy="458220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Operación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370224" y="2241085"/>
            <a:ext cx="7395386" cy="4373447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s-ES" dirty="0">
                <a:ea typeface="+mn-lt"/>
                <a:cs typeface="+mn-lt"/>
              </a:rPr>
              <a:t>Podrán elegir de la lista de viajes programados o buscar su origen-destino.</a:t>
            </a:r>
            <a:endParaRPr lang="es-ES" dirty="0">
              <a:ea typeface="+mn-lt"/>
              <a:cs typeface="+mn-lt"/>
            </a:endParaRPr>
          </a:p>
          <a:p>
            <a:r>
              <a:rPr lang="es-ES">
                <a:ea typeface="+mn-lt"/>
                <a:cs typeface="+mn-lt"/>
              </a:rPr>
              <a:t>El cliente podrá comprar el viaje redondo.</a:t>
            </a:r>
            <a:endParaRPr lang="es-ES">
              <a:ea typeface="+mn-lt"/>
              <a:cs typeface="+mn-lt"/>
            </a:endParaRPr>
          </a:p>
          <a:p>
            <a:r>
              <a:rPr lang="es-ES">
                <a:ea typeface="+mn-lt"/>
                <a:cs typeface="+mn-lt"/>
              </a:rPr>
              <a:t>Se seleccionarán en el sistema la cantidad de asientos y los nombres de </a:t>
            </a:r>
            <a:r>
              <a:rPr lang="es-ES" dirty="0">
                <a:ea typeface="+mn-lt"/>
                <a:cs typeface="+mn-lt"/>
              </a:rPr>
              <a:t>los pasajeros.</a:t>
            </a:r>
            <a:endParaRPr lang="es-ES" dirty="0">
              <a:ea typeface="+mn-lt"/>
              <a:cs typeface="+mn-lt"/>
            </a:endParaRPr>
          </a:p>
          <a:p>
            <a:r>
              <a:rPr lang="es-ES" dirty="0">
                <a:ea typeface="+mn-lt"/>
                <a:cs typeface="+mn-lt"/>
              </a:rPr>
              <a:t>Si el viaje cuenta con esta modalidad, se le solicitará al pasajero un lugar donde hará su descenso, el cual podrá ser su hotel, por ejemplo.</a:t>
            </a:r>
            <a:endParaRPr lang="es-ES" dirty="0">
              <a:ea typeface="+mn-lt"/>
              <a:cs typeface="+mn-lt"/>
            </a:endParaRPr>
          </a:p>
          <a:p>
            <a:r>
              <a:rPr lang="es-ES" dirty="0">
                <a:ea typeface="+mn-lt"/>
                <a:cs typeface="+mn-lt"/>
              </a:rPr>
              <a:t>Se pasará al proceso de pago pudiendo pagar a través de Clip.mx con tarjeta bancaria y efectivo con los agentes de </a:t>
            </a:r>
            <a:r>
              <a:rPr lang="es-ES">
                <a:ea typeface="+mn-lt"/>
                <a:cs typeface="+mn-lt"/>
              </a:rPr>
              <a:t>turismo.</a:t>
            </a:r>
            <a:endParaRPr lang="es-ES">
              <a:ea typeface="+mn-lt"/>
              <a:cs typeface="+mn-lt"/>
            </a:endParaRPr>
          </a:p>
          <a:p>
            <a:r>
              <a:rPr lang="es-ES" dirty="0">
                <a:ea typeface="+mn-lt"/>
                <a:cs typeface="+mn-lt"/>
              </a:rPr>
              <a:t>Se emiten y/o se envían los pases de abordar a los pasajeros.</a:t>
            </a:r>
            <a:endParaRPr lang="es-ES" dirty="0">
              <a:ea typeface="+mn-lt"/>
              <a:cs typeface="+mn-lt"/>
            </a:endParaRPr>
          </a:p>
          <a:p>
            <a:r>
              <a:rPr lang="es-ES" dirty="0">
                <a:ea typeface="+mn-lt"/>
                <a:cs typeface="+mn-lt"/>
              </a:rPr>
              <a:t>Se le entregará al conductor una guía de pasajeros.</a:t>
            </a:r>
            <a:endParaRPr lang="es-ES" dirty="0"/>
          </a:p>
          <a:p>
            <a:endParaRPr lang="es-ES" dirty="0"/>
          </a:p>
        </p:txBody>
      </p:sp>
      <p:pic>
        <p:nvPicPr>
          <p:cNvPr id="4" name="Imagen 3" descr="Interfaz de usuario gráfica, Aplicación&#10;&#10;Descripción generada automáticament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006" y="2569195"/>
            <a:ext cx="4205404" cy="257453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Venta: agencias de viajes y taquillas.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s-ES" dirty="0"/>
              <a:t>Se le asignará un usuario a cada agencia de venta, con este ingresará al sistema y podrá ver  todos los viajes programados.</a:t>
            </a:r>
            <a:endParaRPr lang="es-ES" dirty="0"/>
          </a:p>
          <a:p>
            <a:endParaRPr lang="es-ES" dirty="0"/>
          </a:p>
          <a:p>
            <a:r>
              <a:rPr lang="es-ES" dirty="0"/>
              <a:t>Se llevará el control de cuentas por cobrar.</a:t>
            </a:r>
            <a:endParaRPr lang="es-ES" dirty="0"/>
          </a:p>
        </p:txBody>
      </p:sp>
      <p:pic>
        <p:nvPicPr>
          <p:cNvPr id="4" name="Imagen 3" descr="Icono&#10;&#10;Descripción generada automáticamente"/>
          <p:cNvPicPr>
            <a:picLocks noChangeAspect="1"/>
          </p:cNvPicPr>
          <p:nvPr/>
        </p:nvPicPr>
        <p:blipFill rotWithShape="1">
          <a:blip r:embed="rId1"/>
          <a:srcRect r="-457" b="3968"/>
          <a:stretch>
            <a:fillRect/>
          </a:stretch>
        </p:blipFill>
        <p:spPr>
          <a:xfrm>
            <a:off x="9187815" y="4736782"/>
            <a:ext cx="2239029" cy="12348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Venta: público general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es-ES" dirty="0"/>
          </a:p>
          <a:p>
            <a:r>
              <a:rPr lang="es-ES">
                <a:ea typeface="+mn-lt"/>
                <a:cs typeface="+mn-lt"/>
              </a:rPr>
              <a:t>Se solicitará un número de teléfono al seleccionar su viaje</a:t>
            </a:r>
            <a:endParaRPr lang="es-ES">
              <a:ea typeface="+mn-lt"/>
              <a:cs typeface="+mn-lt"/>
            </a:endParaRPr>
          </a:p>
          <a:p>
            <a:r>
              <a:rPr lang="es-ES" dirty="0">
                <a:ea typeface="+mn-lt"/>
                <a:cs typeface="+mn-lt"/>
              </a:rPr>
              <a:t>Se</a:t>
            </a:r>
            <a:r>
              <a:rPr lang="es-ES" dirty="0"/>
              <a:t> creará una cartera de clientes con la información necesaria para enviarles promociones y nuevos viajes disponibles.</a:t>
            </a:r>
            <a:endParaRPr lang="es-E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Turismo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s-ES" dirty="0">
                <a:ea typeface="+mn-lt"/>
                <a:cs typeface="+mn-lt"/>
              </a:rPr>
              <a:t>Podrá ver todos los viajes programados</a:t>
            </a:r>
            <a:endParaRPr lang="es-ES" dirty="0"/>
          </a:p>
          <a:p>
            <a:r>
              <a:rPr lang="es-ES" dirty="0"/>
              <a:t>Se asignará la camioneta o autobús y conductor al viaje de acuerdo a sus políticas.</a:t>
            </a:r>
            <a:endParaRPr lang="es-ES" dirty="0"/>
          </a:p>
          <a:p>
            <a:r>
              <a:rPr lang="es-ES" dirty="0"/>
              <a:t>Al final del viaje emitirá una autorización de pago para liquidaciones.</a:t>
            </a:r>
            <a:endParaRPr lang="es-ES" dirty="0"/>
          </a:p>
          <a:p>
            <a:endParaRPr lang="es-E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pic>
        <p:nvPicPr>
          <p:cNvPr id="4" name="Imagen 3" descr="Gráfico, Gráfico de embudo&#10;&#10;Descripción generada automáticament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310497"/>
            <a:ext cx="12192000" cy="3569487"/>
          </a:xfrm>
          <a:prstGeom prst="rect">
            <a:avLst/>
          </a:prstGeom>
        </p:spPr>
      </p:pic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199915" y="2298700"/>
            <a:ext cx="11504612" cy="53086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 dirty="0"/>
              <a:t>En un futuro se podría adaptar para ser el sistema de venta de boletos en </a:t>
            </a:r>
            <a:r>
              <a:rPr lang="es-ES"/>
              <a:t>taquilla.</a:t>
            </a:r>
            <a:endParaRPr lang="es-ES" dirty="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 Boardroom">
      <a:maj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>
            <a:fillRect/>
          </a:stretch>
        </a:blip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TF00001243</Template>
  <TotalTime>0</TotalTime>
  <Words>2267</Words>
  <Application>WPS Presentation</Application>
  <PresentationFormat>Panorámica</PresentationFormat>
  <Paragraphs>60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0" baseType="lpstr">
      <vt:lpstr>Arial</vt:lpstr>
      <vt:lpstr>SimSun</vt:lpstr>
      <vt:lpstr>Wingdings</vt:lpstr>
      <vt:lpstr>Wingdings 3</vt:lpstr>
      <vt:lpstr>Arial</vt:lpstr>
      <vt:lpstr>Century Gothic</vt:lpstr>
      <vt:lpstr>Microsoft YaHei</vt:lpstr>
      <vt:lpstr>Arial Unicode MS</vt:lpstr>
      <vt:lpstr>Calibri</vt:lpstr>
      <vt:lpstr>Ion Boardroom</vt:lpstr>
      <vt:lpstr>Turismo VIA</vt:lpstr>
      <vt:lpstr>PowerPoint 演示文稿</vt:lpstr>
      <vt:lpstr>VIA</vt:lpstr>
      <vt:lpstr>Logotipo y colores</vt:lpstr>
      <vt:lpstr>Operación</vt:lpstr>
      <vt:lpstr>Operación</vt:lpstr>
      <vt:lpstr>Venta: agencias de viajes y taquillas.</vt:lpstr>
      <vt:lpstr>Venta: público general</vt:lpstr>
      <vt:lpstr>Turismo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/>
  <cp:lastModifiedBy>WPS_1708031501</cp:lastModifiedBy>
  <cp:revision>548</cp:revision>
  <dcterms:created xsi:type="dcterms:W3CDTF">2020-11-27T17:16:00Z</dcterms:created>
  <dcterms:modified xsi:type="dcterms:W3CDTF">2025-09-19T21:41:21Z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182DE811FD504054A5A3F7750053D2A3_12</vt:lpwstr>
  </property>
  <property fmtid="{D5CDD505-2E9C-101B-9397-08002B2CF9AE}" pid="3" name="KSOProductBuildVer">
    <vt:lpwstr>2058-12.2.0.22549</vt:lpwstr>
  </property>
</Properties>
</file>